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5.xml" ContentType="application/vnd.openxmlformats-officedocument.presentationml.slide+xml"/>
  <Override PartName="/ppt/notesSlides/notesSlide34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3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notesSlides/notesSlide32.xml" ContentType="application/vnd.openxmlformats-officedocument.presentationml.notes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31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38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</p:sldIdLst>
  <p:sldSz cx="9144000" cy="6858000" type="screen4x3"/>
  <p:notesSz cx="6858000" cy="91440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1800" b="0" i="0">
        <a:solidFill>
          <a:schemeClr val="dk1"/>
        </a:solidFill>
        <a:latin typeface="Arial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 /><Relationship Id="rId45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31393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771061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103491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5387400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241056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546114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87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1651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1864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B80306-99DE-D407-09D5-8C0ACB3D1A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907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63109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8111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136FA5-B254-55A3-098B-15771E282C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5661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00916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686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465B38-0E54-1A7D-9A7D-7F28CE2A3B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378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674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398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92FECE-EDDF-36BF-D2E4-3D979B74B6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877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55941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198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41EB4C-CD2F-B9D3-1163-071E66DCAA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286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724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92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3EEFC-5CB0-9CC7-249A-BA3FF8A430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162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20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117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97F4B9-72BE-B5CF-1D8B-1F2C35B60D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0166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0920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741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111181-70ED-3A5A-8AFC-41FADA04A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41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335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195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A2BF59-E930-8A11-6293-DF1CB62C54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913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7099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5355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5C5D51-5C95-5AFC-303F-F64E6875CD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241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5010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83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26BCC5-7CD2-A8C0-57B8-C8F93D49AF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456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5626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911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6ADE77-B924-185D-271F-B1AC66898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522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0474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6577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35C3-D438-BBE6-E897-5831074DB6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372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638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654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D4DDAB-B427-F50F-A65D-1B27AC1918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81308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159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126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7D5C4F-D4B4-B380-A7FD-76E807FC1E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1344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45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753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558B23-F135-5EC4-8358-8F5D7C8BAE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066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06141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766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A3E9CF-9DCB-33AA-53C7-85330661D2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841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0446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428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8CA527-A468-4A49-82CB-710654EEF3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7003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8816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075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199914-3B43-BB63-F446-DCCF2F2386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09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13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32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8219C8-6986-B634-438E-81FA00C079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413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0345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14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98511D-036B-D435-3ECF-3F3307708C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55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2655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76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0E9A47-C563-8EA5-89CA-05CA10A5DD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37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1653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519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64C37A-2D18-B94E-9A95-2C7D4645C1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273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8041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82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CC4BF-B5B4-EB94-DEBD-CAE957EDA5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419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47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0318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A478C6-497B-C45F-79B2-3776728E4E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868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19330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0305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B5189B-6CB4-C6F5-5B0B-8D98CF34F8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466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0897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4525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DCB17-ED52-DD35-F934-E0D7136B33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9061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56897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24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E0CC3D-A4D0-562F-19DC-ABECE8FD27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096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3948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6491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BA7C88-F57F-6C83-94C7-B6A3EDF13C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791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4447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665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F0206C-CE3D-CB9A-3D9F-704AB50CCE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9253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5682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393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983317-5159-0C6E-E092-6DBDC7E840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6560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8297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6571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5826B2-1E80-E63A-0ED9-46E7604EA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161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1623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2314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5FC618-1977-5DC4-77DA-938EB11768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74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3801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813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6EC626-5501-D275-D494-0E1B55DD5A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209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6774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14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90E899-CC16-2E9D-CDBD-ABB6D42303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59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565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96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E66C7C-9CE1-58A2-A593-3E30ECAC734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396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5445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454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A72900-F17E-1AAB-6009-414F01E065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920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9619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379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83E2D1-76EB-A361-E34E-B2281765E8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790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35678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1426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234F6-E807-540D-B673-D3EC31F1C7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846983" name="Shape 145410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87054939" name="Shape 145411"/>
          <p:cNvSpPr>
            <a:spLocks noChangeShapeType="1" noGrp="1"/>
          </p:cNvSpPr>
          <p:nvPr>
            <p:ph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32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r>
              <a:rPr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CC00"/>
              </a:buClr>
              <a:buSzPct val="65000"/>
              <a:buFont typeface="Wingdings"/>
              <a:buChar char="n"/>
              <a:defRPr/>
            </a:pPr>
            <a:r>
              <a:rPr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r>
              <a:rPr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C00"/>
              </a:buClr>
              <a:buSzPct val="65000"/>
              <a:buFont typeface="Wingdings"/>
              <a:buChar char="n"/>
              <a:defRPr/>
            </a:pPr>
            <a:r>
              <a:rPr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48349610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78370338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275727058" name="Shape 145414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400" b="0" i="0" u="none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bg>
      <p:bgPr shadeToTitle="0">
        <a:blipFill rotWithShape="1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27713" name="Shape 14643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85800" y="1676400"/>
            <a:ext cx="7772400" cy="18288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8652022" name="Shape 146435"/>
          <p:cNvSpPr>
            <a:spLocks noChangeShapeType="1"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347731825" name="Shape 146436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0" i="0" u="none"/>
              <a:t>*</a:t>
            </a:r>
            <a:endParaRPr/>
          </a:p>
        </p:txBody>
      </p:sp>
      <p:sp>
        <p:nvSpPr>
          <p:cNvPr id="1680313195" name="Shape 146437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 b="0" i="0" u="none"/>
              <a:t>*</a:t>
            </a:r>
            <a:endParaRPr/>
          </a:p>
        </p:txBody>
      </p:sp>
      <p:sp>
        <p:nvSpPr>
          <p:cNvPr id="394863972" name="Shape 146438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400" b="0" i="0" u="none"/>
              <a:t>*</a:t>
            </a:fld>
            <a:endParaRPr/>
          </a:p>
        </p:txBody>
      </p:sp>
      <p:sp>
        <p:nvSpPr>
          <p:cNvPr id="1860792942" name="Shape 1015"/>
          <p:cNvSpPr>
            <a:spLocks noChangeShapeType="1" noGrp="1"/>
          </p:cNvSpPr>
          <p:nvPr>
            <p:ph type="ftr"/>
          </p:nvPr>
        </p:nvSpPr>
        <p:spPr bwMode="auto"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476410" name="Shape 145410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807533768" name="Shape 145411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24877227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1837875173" name="Shape 146436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2084743424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1522028908" name="Shape 146437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243791" name="Shape 145410"/>
          <p:cNvSpPr>
            <a:spLocks noChangeShapeType="1" noGrp="1"/>
          </p:cNvSpPr>
          <p:nvPr>
            <p:ph type="title" idx="0"/>
          </p:nvPr>
        </p:nvSpPr>
        <p:spPr bwMode="auto">
          <a:xfrm>
            <a:off x="533400" y="381000"/>
            <a:ext cx="8229600" cy="7620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560890934" name="Shape 1023"/>
          <p:cNvSpPr>
            <a:spLocks noChangeShapeType="1" noGrp="1"/>
          </p:cNvSpPr>
          <p:nvPr>
            <p:ph type="obj"/>
          </p:nvPr>
        </p:nvSpPr>
        <p:spPr bwMode="auto"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749009267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342661724" name="Shape 146436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1283871658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437403477" name="Shape 146437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43810" name="Shape 145410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642244763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1179865051" name="Shape 146436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466633568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681146321" name="Shape 146437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322088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857926511" name="Shape 146436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945170267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1760086112" name="Shape 146437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8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92431" name="Shape 145410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59729408" name="Shape 145411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32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r>
              <a:rPr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CC00"/>
              </a:buClr>
              <a:buSzPct val="65000"/>
              <a:buFont typeface="Wingdings"/>
              <a:buChar char="n"/>
              <a:defRPr/>
            </a:pPr>
            <a:r>
              <a:rPr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r>
              <a:rPr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C00"/>
              </a:buClr>
              <a:buSzPct val="65000"/>
              <a:buFont typeface="Wingdings"/>
              <a:buChar char="n"/>
              <a:defRPr/>
            </a:pPr>
            <a:r>
              <a:rPr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2874536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 b="0" i="0" u="none"/>
              <a:t>*</a:t>
            </a:r>
            <a:endParaRPr/>
          </a:p>
        </p:txBody>
      </p:sp>
      <p:sp>
        <p:nvSpPr>
          <p:cNvPr id="476034377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 b="0" i="0" u="none"/>
              <a:t>*</a:t>
            </a:r>
            <a:endParaRPr/>
          </a:p>
        </p:txBody>
      </p:sp>
      <p:sp>
        <p:nvSpPr>
          <p:cNvPr id="1729361957" name="Shape 145414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sz="1400" b="0" i="0" u="none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1" ftr="1" hdr="0" sldNum="0"/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2"/>
          </a:solidFill>
          <a:latin typeface="Tahoma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2"/>
          </a:solidFill>
          <a:latin typeface="Tahoma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2"/>
          </a:solidFill>
          <a:latin typeface="Tahoma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2"/>
          </a:solidFill>
          <a:latin typeface="Tahoma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2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00CCFF"/>
        </a:buClr>
        <a:buSzPct val="65000"/>
        <a:buFont typeface="Wingdings"/>
        <a:buChar char="n"/>
        <a:defRPr lang="en-US" sz="3200" b="0" i="0">
          <a:solidFill>
            <a:schemeClr val="dk1"/>
          </a:solidFill>
          <a:latin typeface="Tahoma"/>
        </a:defRPr>
      </a:lvl1pPr>
      <a:lvl2pPr marL="742950" indent="4572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CC00"/>
        </a:buClr>
        <a:buSzPct val="65000"/>
        <a:buFont typeface="Wingdings"/>
        <a:buChar char="n"/>
        <a:defRPr lang="en-US" sz="2800" b="0" i="0">
          <a:solidFill>
            <a:schemeClr val="dk1"/>
          </a:solidFill>
          <a:latin typeface="Tahoma"/>
        </a:defRPr>
      </a:lvl2pPr>
      <a:lvl3pPr marL="1143000" indent="9144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00CCFF"/>
        </a:buClr>
        <a:buSzPct val="65000"/>
        <a:buFont typeface="Wingdings"/>
        <a:buChar char="n"/>
        <a:defRPr lang="en-US" sz="2400" b="0" i="0">
          <a:solidFill>
            <a:schemeClr val="dk1"/>
          </a:solidFill>
          <a:latin typeface="Tahoma"/>
        </a:defRPr>
      </a:lvl3pPr>
      <a:lvl4pPr marL="16002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FFCC00"/>
        </a:buClr>
        <a:buSzPct val="65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4pPr>
      <a:lvl5pPr marL="20574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Clr>
          <a:srgbClr val="00CCFF"/>
        </a:buClr>
        <a:buSzPct val="65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1800" b="0" i="0">
          <a:solidFill>
            <a:schemeClr val="dk1"/>
          </a:solidFill>
          <a:latin typeface="Arial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3723336" name="Image 134149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1773468330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1016197863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056955" name="Shape 2050"/>
          <p:cNvSpPr>
            <a:spLocks noChangeShapeType="1" noGrp="1"/>
          </p:cNvSpPr>
          <p:nvPr>
            <p:ph type="ctrTitle" idx="0"/>
          </p:nvPr>
        </p:nvSpPr>
        <p:spPr bwMode="auto">
          <a:xfrm flipH="0" flipV="0">
            <a:off x="312432" y="647699"/>
            <a:ext cx="8519134" cy="3733799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4800" b="1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Heart Disease Prediction System Using Deep Learning with Multi-Class Classification</a:t>
            </a:r>
            <a:endParaRPr sz="4800"/>
          </a:p>
        </p:txBody>
      </p:sp>
      <p:pic>
        <p:nvPicPr>
          <p:cNvPr id="11565822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95796" y="4349696"/>
            <a:ext cx="3552406" cy="2224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82168" name="Shape 135170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5900"/>
              <a:t>Group Members Introduction</a:t>
            </a:r>
            <a:endParaRPr/>
          </a:p>
        </p:txBody>
      </p:sp>
      <p:sp>
        <p:nvSpPr>
          <p:cNvPr id="510357669" name="Shape 135171"/>
          <p:cNvSpPr>
            <a:spLocks noChangeShapeType="1" noGrp="1"/>
          </p:cNvSpPr>
          <p:nvPr>
            <p:ph type="body" idx="1"/>
          </p:nvPr>
        </p:nvSpPr>
        <p:spPr bwMode="auto">
          <a:xfrm flipH="0" flipV="0">
            <a:off x="287136" y="1981199"/>
            <a:ext cx="8569726" cy="4114800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3200" b="0" i="0">
                <a:solidFill>
                  <a:schemeClr val="dk1"/>
                </a:solidFill>
                <a:latin typeface="+mn-lt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800" b="0" i="0">
                <a:solidFill>
                  <a:schemeClr val="dk1"/>
                </a:solidFill>
                <a:latin typeface="+mn-lt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400" b="0" i="0">
                <a:solidFill>
                  <a:schemeClr val="dk1"/>
                </a:solidFill>
                <a:latin typeface="+mn-lt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5pPr>
          </a:lstStyle>
          <a:p>
            <a:pPr marL="342900" lvl="0" indent="-342900" algn="l">
              <a:spcBef>
                <a:spcPts val="0"/>
              </a:spcBef>
              <a:buNone/>
              <a:defRPr/>
            </a:pPr>
            <a:r>
              <a:rPr/>
              <a:t>Name: </a:t>
            </a:r>
            <a:r>
              <a:rPr b="1"/>
              <a:t>Asif Nawaz</a:t>
            </a:r>
            <a:r>
              <a:rPr/>
              <a:t>		  VuID:</a:t>
            </a:r>
            <a:r>
              <a:rPr b="1"/>
              <a:t>BC22041485</a:t>
            </a:r>
            <a:endParaRPr b="1"/>
          </a:p>
          <a:p>
            <a:pPr marL="342900" lvl="0" indent="-342900" algn="just">
              <a:spcBef>
                <a:spcPts val="0"/>
              </a:spcBef>
              <a:buNone/>
              <a:defRPr/>
            </a:pPr>
            <a:r>
              <a:rPr lang="en-US" sz="32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				</a:t>
            </a:r>
            <a:endParaRPr lang="en-US" sz="3200" b="0" i="0" u="none" strike="noStrike" cap="none" spc="0">
              <a:solidFill>
                <a:schemeClr val="dk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88050208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1400"/>
              <a:t>10-05-2026			</a:t>
            </a:r>
            <a:endParaRPr lang="en-US" sz="1400"/>
          </a:p>
        </p:txBody>
      </p:sp>
      <p:sp>
        <p:nvSpPr>
          <p:cNvPr id="2103614545" name=""/>
          <p:cNvSpPr txBox="1"/>
          <p:nvPr/>
        </p:nvSpPr>
        <p:spPr bwMode="auto">
          <a:xfrm rot="0" flipH="0" flipV="0">
            <a:off x="287136" y="2831948"/>
            <a:ext cx="8298072" cy="272872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42900" lvl="0" indent="-342900" algn="just">
              <a:lnSpc>
                <a:spcPct val="114999"/>
              </a:lnSpc>
              <a:spcBef>
                <a:spcPts val="0"/>
              </a:spcBef>
              <a:buNone/>
              <a:defRPr/>
            </a:pPr>
            <a:r>
              <a:rPr lang="en-US" sz="25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		I am </a:t>
            </a:r>
            <a:r>
              <a:rPr lang="en-US" sz="2500" b="1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Asif Nawaz</a:t>
            </a:r>
            <a:r>
              <a:rPr lang="en-US" sz="25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, This is my CS619 Final Year Project. As a final-year BSCS student at Virtual University, I designed and developed </a:t>
            </a:r>
            <a:r>
              <a:rPr lang="en-US" sz="2500" b="1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CardioPredict AI</a:t>
            </a:r>
            <a:r>
              <a:rPr lang="en-US" sz="25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 — an AI-powered web application that helps doctors assess a patient's heart disease risk in seconds</a:t>
            </a:r>
            <a:r>
              <a:rPr sz="2500" b="0"/>
              <a:t>.</a:t>
            </a:r>
            <a:endParaRPr lang="en-US" sz="3200" b="0" i="0" u="none" strike="noStrike" cap="none" spc="0">
              <a:solidFill>
                <a:schemeClr val="dk1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164029" name="Shape 9220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762000" y="228600"/>
            <a:ext cx="7772400" cy="18288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4800"/>
              <a:t>INTRODUCTION OF PROJECT</a:t>
            </a:r>
            <a:endParaRPr/>
          </a:p>
        </p:txBody>
      </p:sp>
      <p:sp>
        <p:nvSpPr>
          <p:cNvPr id="457573880" name="Shape 9221"/>
          <p:cNvSpPr>
            <a:spLocks noChangeShapeType="1"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</p:spPr>
        <p:txBody>
          <a:bodyPr lIns="91440" tIns="45720" rIns="91440" bIns="45720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 </a:t>
            </a:r>
            <a:endParaRPr/>
          </a:p>
        </p:txBody>
      </p:sp>
      <p:pic>
        <p:nvPicPr>
          <p:cNvPr id="1015097548" name="Image 9224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305800" y="6305550"/>
            <a:ext cx="838200" cy="552450"/>
          </a:xfrm>
          <a:prstGeom prst="rect">
            <a:avLst/>
          </a:prstGeom>
          <a:noFill/>
        </p:spPr>
      </p:pic>
      <p:sp>
        <p:nvSpPr>
          <p:cNvPr id="471232316" name="Shape 9225"/>
          <p:cNvSpPr txBox="1">
            <a:spLocks noChangeShapeType="1" noGrp="1"/>
          </p:cNvSpPr>
          <p:nvPr/>
        </p:nvSpPr>
        <p:spPr bwMode="auto">
          <a:xfrm flipH="0" flipV="0">
            <a:off x="391966" y="1855032"/>
            <a:ext cx="8400602" cy="3877415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algn="just">
              <a:lnSpc>
                <a:spcPct val="114999"/>
              </a:lnSpc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Project Title: </a:t>
            </a:r>
            <a:r>
              <a:rPr lang="en-US" sz="2400" b="1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CardioPredict AI — Heart Disease Risk Assessment System</a:t>
            </a:r>
            <a:endParaRPr lang="en-US" sz="2400" b="1" i="0" u="none" strike="noStrike" cap="none" spc="0">
              <a:solidFill>
                <a:schemeClr val="dk1"/>
              </a:solidFill>
              <a:latin typeface="Tahoma"/>
              <a:ea typeface="Tahoma"/>
              <a:cs typeface="Tahoma"/>
            </a:endParaRPr>
          </a:p>
          <a:p>
            <a:pPr algn="just">
              <a:lnSpc>
                <a:spcPct val="114999"/>
              </a:lnSpc>
              <a:defRPr/>
            </a:pPr>
            <a:endParaRPr sz="2400" b="1" i="0" u="none" strike="noStrike" cap="none" spc="0">
              <a:solidFill>
                <a:schemeClr val="dk1"/>
              </a:solidFill>
              <a:latin typeface="Tahoma"/>
              <a:cs typeface="Tahoma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1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Introduction:</a:t>
            </a:r>
            <a:endParaRPr sz="2400" b="1" i="0" u="none" strike="noStrike" cap="none" spc="0">
              <a:solidFill>
                <a:schemeClr val="dk1"/>
              </a:solidFill>
              <a:latin typeface="Tahoma"/>
              <a:cs typeface="Tahoma"/>
            </a:endParaRPr>
          </a:p>
          <a:p>
            <a:pPr algn="just">
              <a:lnSpc>
                <a:spcPct val="114999"/>
              </a:lnSpc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	A web-based clinical decision-support tool that predicts a patient's heart disease risk as Low, Medium, or High.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Built for healthcare professionals to assist in early diagnosis using AI.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Trained on the UCI Heart Disease dataset (Cleveland + Hungarian, ~600 records).</a:t>
            </a:r>
            <a:endParaRPr lang="en-US" sz="2400" b="0" i="0" u="none" strike="noStrike" cap="none" spc="0">
              <a:solidFill>
                <a:schemeClr val="dk1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308872" name=""/>
          <p:cNvSpPr txBox="1"/>
          <p:nvPr/>
        </p:nvSpPr>
        <p:spPr bwMode="auto">
          <a:xfrm rot="0" flipH="0" flipV="0">
            <a:off x="641802" y="599606"/>
            <a:ext cx="7530991" cy="3017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b="1"/>
              <a:t>Why it matters</a:t>
            </a:r>
            <a:r>
              <a:rPr sz="2400" b="1"/>
              <a:t>:</a:t>
            </a:r>
            <a:endParaRPr sz="2400" b="1"/>
          </a:p>
          <a:p>
            <a:pPr algn="l">
              <a:defRPr/>
            </a:pP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sz="2400"/>
              <a:t>Cardiovascular disease is the #1 cause of death globally (WHO).</a:t>
            </a: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sz="2400"/>
              <a:t>Early risk identification saves lives but requires costly tests and time.</a:t>
            </a: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sz="2400"/>
              <a:t>An AI-assisted tool helps doctors triage patients faster with a single form.</a:t>
            </a:r>
            <a:endParaRPr sz="2400"/>
          </a:p>
        </p:txBody>
      </p:sp>
      <p:sp>
        <p:nvSpPr>
          <p:cNvPr id="1592450935" name=""/>
          <p:cNvSpPr txBox="1"/>
          <p:nvPr/>
        </p:nvSpPr>
        <p:spPr bwMode="auto">
          <a:xfrm rot="0" flipH="0" flipV="0">
            <a:off x="641802" y="3872458"/>
            <a:ext cx="7533151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b="1"/>
              <a:t>Key Features</a:t>
            </a:r>
            <a:endParaRPr sz="2400" b="1"/>
          </a:p>
          <a:p>
            <a:pPr algn="l">
              <a:defRPr/>
            </a:pP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sz="2400"/>
              <a:t>Patient registration, search, and complete prediction history per patient.</a:t>
            </a: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sz="2400"/>
              <a:t>Three ML models compared side-by-side: ANN, Logistic Regression, Random Forest.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955825" name=""/>
          <p:cNvSpPr txBox="1"/>
          <p:nvPr/>
        </p:nvSpPr>
        <p:spPr bwMode="auto">
          <a:xfrm rot="0" flipH="0" flipV="0">
            <a:off x="641802" y="749508"/>
            <a:ext cx="7537111" cy="2652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b="1"/>
              <a:t>Key Features</a:t>
            </a:r>
            <a:r>
              <a:rPr sz="2400" b="1"/>
              <a:t> (con.)</a:t>
            </a:r>
            <a:endParaRPr sz="2400" b="1"/>
          </a:p>
          <a:p>
            <a:pPr algn="l">
              <a:defRPr/>
            </a:pPr>
            <a:endParaRPr sz="2400"/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Detailed result page with risk probability charts + clinical recommendations.</a:t>
            </a:r>
            <a:endParaRPr lang="en-US"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PDF / CSV export of prediction reports.</a:t>
            </a:r>
            <a:endParaRPr lang="en-US"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Admin panel for managing users and viewing patient reports.</a:t>
            </a:r>
            <a:endParaRPr sz="2400"/>
          </a:p>
        </p:txBody>
      </p:sp>
      <p:sp>
        <p:nvSpPr>
          <p:cNvPr id="1617171255" name=""/>
          <p:cNvSpPr txBox="1"/>
          <p:nvPr/>
        </p:nvSpPr>
        <p:spPr bwMode="auto">
          <a:xfrm rot="0" flipH="0" flipV="0">
            <a:off x="821802" y="3833852"/>
            <a:ext cx="7541071" cy="1920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Technology Stack</a:t>
            </a:r>
            <a:endParaRPr sz="2400" b="1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Frontend: Next.js 14, Tailwind CSS, Chart.js</a:t>
            </a:r>
            <a:endParaRPr lang="en-US"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Backend: FastAPI (Python), SQLAlchemy, JWT authentication.</a:t>
            </a:r>
            <a:endParaRPr lang="en-US"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117256" name=""/>
          <p:cNvSpPr txBox="1"/>
          <p:nvPr/>
        </p:nvSpPr>
        <p:spPr bwMode="auto">
          <a:xfrm rot="0" flipH="0" flipV="0">
            <a:off x="641802" y="749508"/>
            <a:ext cx="7545031" cy="3749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 b="1"/>
              <a:t>Technology Stack</a:t>
            </a:r>
            <a:r>
              <a:rPr sz="2400" b="1"/>
              <a:t> (con.)</a:t>
            </a:r>
            <a:endParaRPr sz="2400" b="1"/>
          </a:p>
          <a:p>
            <a:pPr algn="l">
              <a:defRPr/>
            </a:pPr>
            <a:endParaRPr sz="2400" b="1"/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Database: MySQL 8</a:t>
            </a:r>
            <a:endParaRPr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Machine Learning: TensorFlow / Keras, scikit-learn</a:t>
            </a:r>
            <a:endParaRPr/>
          </a:p>
          <a:p>
            <a:pPr marL="349965" indent="-349965"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 marL="349965" indent="-349965"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2400" b="1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Achievement</a:t>
            </a:r>
            <a:endParaRPr sz="2400" b="1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>
              <a:defRPr/>
            </a:pPr>
            <a:endParaRPr sz="2400" b="0" i="0" u="none" strike="noStrike" cap="none" spc="0">
              <a:solidFill>
                <a:schemeClr val="dk1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Best model (ANN) achieves 77.5% accuracy with 0.917 ROC-AUC on the t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161012" name="Shape 138242"/>
          <p:cNvSpPr>
            <a:spLocks noChangeShapeType="1" noGrp="1"/>
          </p:cNvSpPr>
          <p:nvPr>
            <p:ph type="ctrTitle" idx="0"/>
          </p:nvPr>
        </p:nvSpPr>
        <p:spPr bwMode="auto">
          <a:xfrm flipH="0" flipV="0">
            <a:off x="592111" y="968114"/>
            <a:ext cx="8153749" cy="378626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algn="l">
              <a:defRPr/>
            </a:pPr>
            <a:r>
              <a:rPr lang="en-US" sz="2800" b="1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P</a:t>
            </a:r>
            <a:r>
              <a:rPr lang="en-US" sz="2800" b="1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rocess Model:Iterative &amp; Incremental Development Model</a:t>
            </a:r>
            <a:endParaRPr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algn="l">
              <a:defRPr/>
            </a:pPr>
            <a:endParaRPr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algn="l">
              <a:defRPr/>
            </a:pPr>
            <a:r>
              <a:rPr lang="en-US" sz="2400" b="1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Why this model was chosen</a:t>
            </a:r>
            <a:endParaRPr sz="2400" b="1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l"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The system has clearly separable modules (auth, patient management, ML prediction, admin) — perfect for incremental delivery.</a:t>
            </a:r>
            <a:endParaRPr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l">
              <a:lnSpc>
                <a:spcPct val="114999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Working software at the end of every iteration → continuous testing and feedback.</a:t>
            </a:r>
            <a:endParaRPr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lvl="0" indent="-349965" algn="l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Allowed the ML pipeline to be refined as more data was added without disrupting the rest of the system.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16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4161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4161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161012" grpId="0" uiExpand="1" build="whole" animBg="0" autoUpdateAnimBg="0" rev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461594" name="Shape 138242"/>
          <p:cNvSpPr>
            <a:spLocks noChangeShapeType="1" noGrp="1"/>
          </p:cNvSpPr>
          <p:nvPr>
            <p:ph type="ctrTitle" idx="0"/>
          </p:nvPr>
        </p:nvSpPr>
        <p:spPr bwMode="auto">
          <a:xfrm flipH="0" flipV="0">
            <a:off x="592111" y="749508"/>
            <a:ext cx="8153749" cy="378626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algn="l">
              <a:defRPr/>
            </a:pPr>
            <a:r>
              <a:rPr lang="en-US" sz="2800" b="1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P</a:t>
            </a:r>
            <a:r>
              <a:rPr lang="en-US" sz="2800" b="1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rocess Model:Iterative &amp; Incremental Development Model</a:t>
            </a:r>
            <a:endParaRPr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algn="just">
              <a:defRPr/>
            </a:pPr>
            <a:endParaRPr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algn="just">
              <a:defRPr/>
            </a:pPr>
            <a:r>
              <a:rPr lang="en-US" sz="2400" b="1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Iterations Followed</a:t>
            </a:r>
            <a:endParaRPr sz="2400" b="1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algn="just">
              <a:defRPr/>
            </a:pP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just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Iteration 1: Database schema + user authentication (register / login)</a:t>
            </a: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just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Iteration 2: Patient management + new prediction form</a:t>
            </a: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just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Iteration 3: ML model training (UCI Cleveland + Hungarian datasets)</a:t>
            </a: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just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Iteration 4: Results page, prediction history, PDF / CSV export</a:t>
            </a: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just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2"/>
                </a:solidFill>
                <a:latin typeface="Tahoma"/>
                <a:ea typeface="Tahoma"/>
                <a:cs typeface="Tahoma"/>
              </a:rPr>
              <a:t>Iteration 5: Admin panel and patient reports</a:t>
            </a: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lvl="0" indent="-349965" algn="just">
              <a:lnSpc>
                <a:spcPct val="114999"/>
              </a:lnSpc>
              <a:spcBef>
                <a:spcPts val="0"/>
              </a:spcBef>
              <a:buFont typeface="Arial"/>
              <a:buChar char="•"/>
              <a:defRPr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46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6461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6461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6461594" grpId="0" uiExpand="1" build="whole" animBg="0" autoUpdateAnimBg="0" rev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151178" name="Shape 138242"/>
          <p:cNvSpPr>
            <a:spLocks noChangeShapeType="1" noGrp="1"/>
          </p:cNvSpPr>
          <p:nvPr>
            <p:ph type="ctrTitle" idx="0"/>
          </p:nvPr>
        </p:nvSpPr>
        <p:spPr bwMode="auto">
          <a:xfrm flipH="0" flipV="0">
            <a:off x="592111" y="1702008"/>
            <a:ext cx="8153749" cy="3786265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just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0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defRPr>
            </a:pPr>
            <a:r>
              <a:rPr lang="en-US" sz="2400" b="1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rPr>
              <a:t>Key Advantages Realised</a:t>
            </a:r>
            <a:endParaRPr sz="2400" b="1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570252" marR="0" lvl="0" indent="-570252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lang="en-US" sz="4400" b="0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defRPr>
            </a:pP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marR="0" lvl="0" indent="-349965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lang="en-US" sz="4400" b="0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defRPr>
            </a:pPr>
            <a:r>
              <a:rPr lang="en-US" sz="2400" b="0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rPr>
              <a:t>Bugs caught early instead of at the end of the project.</a:t>
            </a: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marR="0" lvl="0" indent="-349965" algn="l" defTabSz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lang="en-US" sz="4400" b="0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defRPr>
            </a:pPr>
            <a:r>
              <a:rPr lang="en-US" sz="2400" b="0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rPr>
              <a:t>Each module was independently testable.</a:t>
            </a:r>
            <a:endParaRPr lang="en-US" sz="2400" b="0" i="0" u="none" strike="noStrike" cap="none" spc="0">
              <a:solidFill>
                <a:schemeClr val="dk2"/>
              </a:solidFill>
              <a:latin typeface="Tahoma"/>
              <a:cs typeface="Tahoma"/>
            </a:endParaRPr>
          </a:p>
          <a:p>
            <a:pPr marL="349965" indent="-349965" algn="l">
              <a:lnSpc>
                <a:spcPct val="15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E5FFFF"/>
                </a:solidFill>
                <a:latin typeface="Tahoma"/>
                <a:ea typeface="Tahoma"/>
                <a:cs typeface="Tahoma"/>
              </a:rPr>
              <a:t>New features (real-time validation, country-code phone input) were added without rewrites.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15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31151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31151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1151178" grpId="0" uiExpand="1" build="whole" animBg="0" autoUpdateAnimBg="0" rev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968082" name="Shape 139311"/>
          <p:cNvSpPr txBox="1">
            <a:spLocks noChangeShapeType="1" noGrp="1"/>
          </p:cNvSpPr>
          <p:nvPr/>
        </p:nvSpPr>
        <p:spPr bwMode="auto">
          <a:xfrm>
            <a:off x="1600200" y="1295400"/>
            <a:ext cx="4876800" cy="3667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016007958" name="Shape 145413"/>
          <p:cNvSpPr>
            <a:spLocks noChangeShapeType="1" noGrp="1"/>
          </p:cNvSpPr>
          <p:nvPr>
            <p:ph type="ftr" idx="3"/>
          </p:nvPr>
        </p:nvSpPr>
        <p:spPr bwMode="auto">
          <a:xfrm flipH="0" flipV="0">
            <a:off x="1895612" y="5542560"/>
            <a:ext cx="5352774" cy="476249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Iterative Development Model — followed across 5 iterations during CardioPredict AI development</a:t>
            </a:r>
            <a:endParaRPr lang="en-US" sz="1400"/>
          </a:p>
        </p:txBody>
      </p:sp>
      <p:pic>
        <p:nvPicPr>
          <p:cNvPr id="1868984108" name=""/>
          <p:cNvPicPr>
            <a:picLocks noChangeAspect="1"/>
          </p:cNvPicPr>
          <p:nvPr/>
        </p:nvPicPr>
        <p:blipFill rotWithShape="1">
          <a:blip r:embed="rId3"/>
          <a:srcRect l="8131" t="6839" r="13605" b="14786"/>
          <a:stretch/>
        </p:blipFill>
        <p:spPr bwMode="auto">
          <a:xfrm flipH="0" flipV="0">
            <a:off x="2372680" y="623965"/>
            <a:ext cx="4398639" cy="4404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230936" name="Shape 1536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533400" y="304800"/>
            <a:ext cx="7772400" cy="8382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4000"/>
              <a:t>Actors Catalog</a:t>
            </a:r>
            <a:endParaRPr/>
          </a:p>
        </p:txBody>
      </p:sp>
      <p:graphicFrame>
        <p:nvGraphicFramePr>
          <p:cNvPr id="184222527" name=""/>
          <p:cNvGraphicFramePr>
            <a:graphicFrameLocks xmlns:a="http://schemas.openxmlformats.org/drawingml/2006/main"/>
          </p:cNvGraphicFramePr>
          <p:nvPr/>
        </p:nvGraphicFramePr>
        <p:xfrm rot="0">
          <a:off x="267049" y="1605821"/>
          <a:ext cx="8634958" cy="378288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878319"/>
                <a:gridCol w="1657563"/>
                <a:gridCol w="4099074"/>
              </a:tblGrid>
              <a:tr h="58785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Actor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Type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Role / Responsibilities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88178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Healthcare Professional (Doctor)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Primary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Registers / logs in, manages patient records, fills clinical input, runs heart disease risk predictions, views history, exports PDF / CSV reports.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881786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System Administrator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Primary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Manages user accounts (activate / disable / promote to admin), views all patients across doctors, generates patient-level reports, monitors system data.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36845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ML Prediction Engine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Secondary (system)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Receives feature vector, returns risk class (Low / Medium / High) with confidence score and probability distribution.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636845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MySQL Database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Secondary (system)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Persists users, patients, health parameters, predictions, ML model registry.</a:t>
                      </a:r>
                      <a:endParaRPr sz="14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17743" name="Shape 17412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09600" y="304800"/>
            <a:ext cx="7772400" cy="9906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Use Case Diagram</a:t>
            </a:r>
            <a:endParaRPr/>
          </a:p>
        </p:txBody>
      </p:sp>
      <p:pic>
        <p:nvPicPr>
          <p:cNvPr id="2838322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2131" y="1295399"/>
            <a:ext cx="8262861" cy="50897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594542" name="Shape 20484"/>
          <p:cNvSpPr>
            <a:spLocks noChangeShapeType="1" noGrp="1"/>
          </p:cNvSpPr>
          <p:nvPr>
            <p:ph type="ctrTitle" idx="0"/>
          </p:nvPr>
        </p:nvSpPr>
        <p:spPr bwMode="auto">
          <a:xfrm flipH="0" flipV="0">
            <a:off x="685799" y="392866"/>
            <a:ext cx="7772400" cy="903157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Business Rules Catalog</a:t>
            </a:r>
            <a:endParaRPr/>
          </a:p>
        </p:txBody>
      </p:sp>
      <p:graphicFrame>
        <p:nvGraphicFramePr>
          <p:cNvPr id="1683616048" name=""/>
          <p:cNvGraphicFramePr>
            <a:graphicFrameLocks xmlns:a="http://schemas.openxmlformats.org/drawingml/2006/main"/>
          </p:cNvGraphicFramePr>
          <p:nvPr/>
        </p:nvGraphicFramePr>
        <p:xfrm rot="0">
          <a:off x="235608" y="1296024"/>
          <a:ext cx="8672783" cy="50901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00000"/>
                <a:gridCol w="7772783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#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4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Rule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BR-01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Only registered healthcare professionals or admins can access the system.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BR-02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Each username and email must be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unique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; both are checked in real-time during registration.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BR-03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Passwords must be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at least 8 characters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with one uppercase, one lowercase, and one digit.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BR-04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Patient first name and last name are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required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when creating a new patient record.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BR-05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Each patient record is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owned by exactly one doctor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(the user who created it).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BR-06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Clinical input fields must fall within valid medical ranges (e.g., Age 1–120, Resting BP 50–250, Cholesterol 0–600).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BR-07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 prediction can only be saved if all 13 clinical features are provided.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BR-08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Risk classification must be one of three classes: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Low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,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Medium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, or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High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BR-09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Predictions are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read-only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once saved — they cannot be edited (preserves audit trail).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BR-10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Only users with role =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admin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can access the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6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/admin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panel and modify other users.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BR-11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The default admin account is created by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6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create_admin.py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and cannot be disabled by mistake.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BR-12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All passwords are stored as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 </a:t>
                      </a:r>
                      <a:r>
                        <a:rPr sz="1400" b="1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bcrypt hashes</a:t>
                      </a:r>
                      <a:r>
                        <a:rPr sz="1400" b="0" i="0" u="none">
                          <a:solidFill>
                            <a:schemeClr val="bg2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; plain-text passwords are never persisted or logged</a:t>
                      </a:r>
                      <a:endParaRPr sz="24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331487" name="Shape 31748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b="1" i="1" u="none"/>
              <a:t>Architectural Design</a:t>
            </a:r>
            <a:endParaRPr/>
          </a:p>
        </p:txBody>
      </p:sp>
      <p:sp>
        <p:nvSpPr>
          <p:cNvPr id="1609747541" name="Shape 31754"/>
          <p:cNvSpPr>
            <a:spLocks noChangeShapeType="1" noGrp="1"/>
          </p:cNvSpPr>
          <p:nvPr/>
        </p:nvSpPr>
        <p:spPr bwMode="auto">
          <a:xfrm>
            <a:off x="0" y="138588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586965053" name="Shape 145413"/>
          <p:cNvSpPr>
            <a:spLocks noChangeShapeType="1" noGrp="1"/>
          </p:cNvSpPr>
          <p:nvPr>
            <p:ph type="ftr" idx="3"/>
          </p:nvPr>
        </p:nvSpPr>
        <p:spPr bwMode="auto">
          <a:xfrm flipH="0" flipV="0">
            <a:off x="1625532" y="6151536"/>
            <a:ext cx="6292745" cy="4762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 b="0" i="1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Three-tier architecture of CardioPredict AI — Presentation (Next.js), Application (FastAPI + ML), Data (MySQL + file storage). Layers communicate via JSON over HTTPS.</a:t>
            </a:r>
            <a:endParaRPr sz="2000">
              <a:solidFill>
                <a:schemeClr val="tx1"/>
              </a:solidFill>
            </a:endParaRPr>
          </a:p>
        </p:txBody>
      </p:sp>
      <p:pic>
        <p:nvPicPr>
          <p:cNvPr id="194850862" name="Image8" descr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481172" y="1467786"/>
            <a:ext cx="8181654" cy="4465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204510" name="Shape 142338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6858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4000"/>
              <a:t>Project Scope</a:t>
            </a:r>
            <a:endParaRPr/>
          </a:p>
        </p:txBody>
      </p:sp>
      <p:sp>
        <p:nvSpPr>
          <p:cNvPr id="1664345689" name="Shape 142342"/>
          <p:cNvSpPr txBox="1">
            <a:spLocks noChangeShapeType="1" noGrp="1"/>
          </p:cNvSpPr>
          <p:nvPr/>
        </p:nvSpPr>
        <p:spPr bwMode="auto">
          <a:xfrm>
            <a:off x="1676399" y="2057400"/>
            <a:ext cx="6248759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/>
          <a:p>
            <a:pPr lvl="0">
              <a:spcBef>
                <a:spcPts val="0"/>
              </a:spcBef>
              <a:defRPr/>
            </a:pPr>
            <a:endParaRPr/>
          </a:p>
        </p:txBody>
      </p:sp>
      <p:sp>
        <p:nvSpPr>
          <p:cNvPr id="835304629" name="Shape 145413"/>
          <p:cNvSpPr>
            <a:spLocks noChangeShapeType="1" noGrp="1"/>
          </p:cNvSpPr>
          <p:nvPr>
            <p:ph type="ftr" idx="3"/>
          </p:nvPr>
        </p:nvSpPr>
        <p:spPr bwMode="auto">
          <a:xfrm flipH="0" flipV="0">
            <a:off x="2729284" y="6104692"/>
            <a:ext cx="3685430" cy="4762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Context diagram showing CardioPredict AI's external entities and the data exchanged with each</a:t>
            </a:r>
            <a:endParaRPr lang="en-US" sz="1800"/>
          </a:p>
        </p:txBody>
      </p:sp>
      <p:pic>
        <p:nvPicPr>
          <p:cNvPr id="5292725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21836" y="1066799"/>
            <a:ext cx="6278249" cy="45545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789676" name="Shape 148482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Team Structure</a:t>
            </a:r>
            <a:endParaRPr/>
          </a:p>
        </p:txBody>
      </p:sp>
      <p:sp>
        <p:nvSpPr>
          <p:cNvPr id="105059517" name="Shape 145413"/>
          <p:cNvSpPr>
            <a:spLocks noChangeShapeType="1" noGrp="1"/>
          </p:cNvSpPr>
          <p:nvPr>
            <p:ph type="ftr" idx="3"/>
          </p:nvPr>
        </p:nvSpPr>
        <p:spPr bwMode="auto">
          <a:xfrm flipH="0" flipV="0">
            <a:off x="848193" y="6007099"/>
            <a:ext cx="7838606" cy="47624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This is a solo FYP, so I performed all the </a:t>
            </a:r>
            <a:r>
              <a:rPr lang="en-US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technical </a:t>
            </a:r>
            <a:r>
              <a:rPr lang="en-US" sz="14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roles — frontend development with Next.js, backend with FastAPI, ML training with TensorFlow and scikit-learn, database design in MySQL, plus testing and all the documentation. My supervisor Madam Laraib Sana provided guidance and milestone reviews throughout</a:t>
            </a:r>
            <a:endParaRPr sz="1400"/>
          </a:p>
        </p:txBody>
      </p:sp>
      <p:pic>
        <p:nvPicPr>
          <p:cNvPr id="402233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42266" y="1998634"/>
            <a:ext cx="7059467" cy="33503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474363" name="Shape 53250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Project Schedule</a:t>
            </a:r>
            <a:endParaRPr/>
          </a:p>
        </p:txBody>
      </p:sp>
      <p:sp>
        <p:nvSpPr>
          <p:cNvPr id="609789930" name="Shape 53253"/>
          <p:cNvSpPr>
            <a:spLocks noChangeShapeType="1" noGrp="1"/>
          </p:cNvSpPr>
          <p:nvPr/>
        </p:nvSpPr>
        <p:spPr bwMode="auto">
          <a:xfrm>
            <a:off x="0" y="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655715774" name="Shape 145412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endParaRPr lang="en-US" sz="1400"/>
          </a:p>
        </p:txBody>
      </p:sp>
      <p:sp>
        <p:nvSpPr>
          <p:cNvPr id="635591516" name="Shape 145413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</p:txBody>
      </p:sp>
      <p:pic>
        <p:nvPicPr>
          <p:cNvPr id="16668831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0355" y="2149430"/>
            <a:ext cx="8428612" cy="24413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774111" name="Shape 59396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85800" y="187324"/>
            <a:ext cx="7772400" cy="9906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Sequence Diagrams</a:t>
            </a:r>
            <a:endParaRPr/>
          </a:p>
        </p:txBody>
      </p:sp>
      <p:sp>
        <p:nvSpPr>
          <p:cNvPr id="2138818824" name="Shape 59397"/>
          <p:cNvSpPr>
            <a:spLocks noChangeShapeType="1" noGrp="1"/>
          </p:cNvSpPr>
          <p:nvPr>
            <p:ph type="subTitle" idx="1"/>
          </p:nvPr>
        </p:nvSpPr>
        <p:spPr bwMode="auto">
          <a:xfrm flipH="0" flipV="0">
            <a:off x="1371599" y="1098549"/>
            <a:ext cx="6400800" cy="869949"/>
          </a:xfrm>
          <a:prstGeom prst="rect">
            <a:avLst/>
          </a:prstGeom>
        </p:spPr>
        <p:txBody>
          <a:bodyPr lIns="91440" tIns="45720" rIns="91440" bIns="45720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Patient Entry</a:t>
            </a:r>
            <a:endParaRPr/>
          </a:p>
        </p:txBody>
      </p:sp>
      <p:pic>
        <p:nvPicPr>
          <p:cNvPr id="1157656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05687" y="1724024"/>
            <a:ext cx="6923124" cy="4806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99051" name="Shape 59396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85800" y="187324"/>
            <a:ext cx="7772400" cy="990599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Sequence Diagrams</a:t>
            </a:r>
            <a:endParaRPr/>
          </a:p>
        </p:txBody>
      </p:sp>
      <p:sp>
        <p:nvSpPr>
          <p:cNvPr id="1993204416" name="Shape 59397"/>
          <p:cNvSpPr>
            <a:spLocks noChangeShapeType="1" noGrp="1"/>
          </p:cNvSpPr>
          <p:nvPr>
            <p:ph type="subTitle" idx="1"/>
          </p:nvPr>
        </p:nvSpPr>
        <p:spPr bwMode="auto">
          <a:xfrm flipH="0" flipV="0">
            <a:off x="1371599" y="1098549"/>
            <a:ext cx="6400800" cy="869949"/>
          </a:xfrm>
          <a:prstGeom prst="rect">
            <a:avLst/>
          </a:prstGeom>
        </p:spPr>
        <p:txBody>
          <a:bodyPr lIns="91440" tIns="45720" rIns="91440" bIns="45720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Prediction</a:t>
            </a:r>
            <a:endParaRPr/>
          </a:p>
        </p:txBody>
      </p:sp>
      <p:pic>
        <p:nvPicPr>
          <p:cNvPr id="182913561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90524" y="1755266"/>
            <a:ext cx="7467674" cy="47667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645996" name="Shape 59396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85800" y="187324"/>
            <a:ext cx="7772400" cy="990599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Sequence Diagrams</a:t>
            </a:r>
            <a:endParaRPr/>
          </a:p>
        </p:txBody>
      </p:sp>
      <p:sp>
        <p:nvSpPr>
          <p:cNvPr id="1494374307" name="Shape 59397"/>
          <p:cNvSpPr>
            <a:spLocks noChangeShapeType="1" noGrp="1"/>
          </p:cNvSpPr>
          <p:nvPr>
            <p:ph type="subTitle" idx="1"/>
          </p:nvPr>
        </p:nvSpPr>
        <p:spPr bwMode="auto">
          <a:xfrm flipH="0" flipV="0">
            <a:off x="1371599" y="1098549"/>
            <a:ext cx="6400800" cy="869949"/>
          </a:xfrm>
          <a:prstGeom prst="rect">
            <a:avLst/>
          </a:prstGeom>
        </p:spPr>
        <p:txBody>
          <a:bodyPr lIns="91440" tIns="45720" rIns="91440" bIns="45720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Export</a:t>
            </a:r>
            <a:endParaRPr/>
          </a:p>
        </p:txBody>
      </p:sp>
      <p:pic>
        <p:nvPicPr>
          <p:cNvPr id="81878066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269187" y="1867578"/>
            <a:ext cx="6732624" cy="4667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759218" name="Shape 111175"/>
          <p:cNvSpPr>
            <a:spLocks noChangeShapeType="1" noGrp="1"/>
          </p:cNvSpPr>
          <p:nvPr>
            <p:ph type="title" idx="0"/>
          </p:nvPr>
        </p:nvSpPr>
        <p:spPr bwMode="auto">
          <a:xfrm>
            <a:off x="381000" y="152400"/>
            <a:ext cx="8229600" cy="7620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Logical Model/Class Diagram</a:t>
            </a:r>
            <a:endParaRPr/>
          </a:p>
        </p:txBody>
      </p:sp>
      <p:sp>
        <p:nvSpPr>
          <p:cNvPr id="171087346" name="Shape 111177"/>
          <p:cNvSpPr>
            <a:spLocks noChangeShapeType="1" noGrp="1"/>
          </p:cNvSpPr>
          <p:nvPr/>
        </p:nvSpPr>
        <p:spPr bwMode="auto">
          <a:xfrm>
            <a:off x="0" y="1376361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>
              <a:defRPr/>
            </a:pPr>
            <a:endParaRPr sz="1400"/>
          </a:p>
        </p:txBody>
      </p:sp>
      <p:pic>
        <p:nvPicPr>
          <p:cNvPr id="15437751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07187" y="1360879"/>
            <a:ext cx="8129624" cy="4453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43635" name="Shape 60421"/>
          <p:cNvSpPr>
            <a:spLocks noChangeShapeType="1" noGrp="1"/>
          </p:cNvSpPr>
          <p:nvPr/>
        </p:nvSpPr>
        <p:spPr bwMode="auto">
          <a:xfrm>
            <a:off x="0" y="1776412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830127305" name="Shape 60422"/>
          <p:cNvSpPr>
            <a:spLocks noChangeShapeType="1" noGrp="1"/>
          </p:cNvSpPr>
          <p:nvPr/>
        </p:nvSpPr>
        <p:spPr bwMode="auto">
          <a:xfrm>
            <a:off x="0" y="508158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739397704" name="Shape 60424"/>
          <p:cNvSpPr>
            <a:spLocks noChangeShapeType="1" noGrp="1"/>
          </p:cNvSpPr>
          <p:nvPr>
            <p:ph type="title" idx="0"/>
          </p:nvPr>
        </p:nvSpPr>
        <p:spPr bwMode="auto">
          <a:xfrm>
            <a:off x="533400" y="381000"/>
            <a:ext cx="8229600" cy="7620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Entity-Relationship Diagram</a:t>
            </a:r>
            <a:endParaRPr/>
          </a:p>
        </p:txBody>
      </p:sp>
      <p:pic>
        <p:nvPicPr>
          <p:cNvPr id="40585791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80000" y="1499489"/>
            <a:ext cx="8462999" cy="3689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343759" name="Shape 61445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09600" y="457200"/>
            <a:ext cx="7772400" cy="8382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4000"/>
              <a:t>Database Design</a:t>
            </a:r>
            <a:endParaRPr/>
          </a:p>
        </p:txBody>
      </p:sp>
      <p:pic>
        <p:nvPicPr>
          <p:cNvPr id="15874234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45312" y="1434125"/>
            <a:ext cx="7653374" cy="4915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82382" name="Shape 13619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09600" y="457200"/>
            <a:ext cx="7772400" cy="8382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4000" b="1"/>
              <a:t>User Interfaces</a:t>
            </a:r>
            <a:endParaRPr b="1"/>
          </a:p>
        </p:txBody>
      </p:sp>
      <p:sp>
        <p:nvSpPr>
          <p:cNvPr id="599424054" name="Shape 136195"/>
          <p:cNvSpPr>
            <a:spLocks noChangeShapeType="1" noGrp="1"/>
          </p:cNvSpPr>
          <p:nvPr>
            <p:ph type="subTitle" idx="1"/>
          </p:nvPr>
        </p:nvSpPr>
        <p:spPr bwMode="auto">
          <a:xfrm flipH="0" flipV="0">
            <a:off x="1371599" y="2279649"/>
            <a:ext cx="6885024" cy="1752598"/>
          </a:xfrm>
          <a:prstGeom prst="rect">
            <a:avLst/>
          </a:prstGeom>
        </p:spPr>
        <p:txBody>
          <a:bodyPr lIns="91440" tIns="45720" rIns="91440" bIns="45720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6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Screenshots of the main pages of CardioPredict AI  captured from the running application are in next slides </a:t>
            </a: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534610" name="Shape 65538"/>
          <p:cNvSpPr>
            <a:spLocks noChangeShapeType="1" noGrp="1"/>
          </p:cNvSpPr>
          <p:nvPr>
            <p:ph type="title" idx="0"/>
          </p:nvPr>
        </p:nvSpPr>
        <p:spPr bwMode="auto">
          <a:xfrm>
            <a:off x="520699" y="-47624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Login/Registration</a:t>
            </a:r>
            <a:endParaRPr/>
          </a:p>
        </p:txBody>
      </p:sp>
      <p:sp>
        <p:nvSpPr>
          <p:cNvPr id="1639968305" name="Shape 65539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3200" b="0" i="0">
                <a:solidFill>
                  <a:schemeClr val="dk1"/>
                </a:solidFill>
                <a:latin typeface="+mn-lt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800" b="0" i="0">
                <a:solidFill>
                  <a:schemeClr val="dk1"/>
                </a:solidFill>
                <a:latin typeface="+mn-lt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400" b="0" i="0">
                <a:solidFill>
                  <a:schemeClr val="dk1"/>
                </a:solidFill>
                <a:latin typeface="+mn-lt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None/>
              <a:defRPr/>
            </a:pPr>
            <a:endParaRPr/>
          </a:p>
        </p:txBody>
      </p:sp>
      <p:pic>
        <p:nvPicPr>
          <p:cNvPr id="7273380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5657" y="1325167"/>
            <a:ext cx="4577657" cy="4770831"/>
          </a:xfrm>
          <a:prstGeom prst="rect">
            <a:avLst/>
          </a:prstGeom>
        </p:spPr>
      </p:pic>
      <p:pic>
        <p:nvPicPr>
          <p:cNvPr id="168843475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571999" y="1325167"/>
            <a:ext cx="4578801" cy="4772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788769" name="Shape 65538"/>
          <p:cNvSpPr>
            <a:spLocks noChangeShapeType="1" noGrp="1"/>
          </p:cNvSpPr>
          <p:nvPr>
            <p:ph type="title" idx="0"/>
          </p:nvPr>
        </p:nvSpPr>
        <p:spPr bwMode="auto">
          <a:xfrm>
            <a:off x="520699" y="-47624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Dashboard</a:t>
            </a:r>
            <a:endParaRPr/>
          </a:p>
        </p:txBody>
      </p:sp>
      <p:sp>
        <p:nvSpPr>
          <p:cNvPr id="1759657495" name="Shape 65539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981199"/>
            <a:ext cx="8229600" cy="4114800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3200" b="0" i="0">
                <a:solidFill>
                  <a:schemeClr val="dk1"/>
                </a:solidFill>
                <a:latin typeface="+mn-lt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800" b="0" i="0">
                <a:solidFill>
                  <a:schemeClr val="dk1"/>
                </a:solidFill>
                <a:latin typeface="+mn-lt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400" b="0" i="0">
                <a:solidFill>
                  <a:schemeClr val="dk1"/>
                </a:solidFill>
                <a:latin typeface="+mn-lt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None/>
              <a:defRPr/>
            </a:pPr>
            <a:endParaRPr/>
          </a:p>
        </p:txBody>
      </p:sp>
      <p:pic>
        <p:nvPicPr>
          <p:cNvPr id="10478935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212055"/>
            <a:ext cx="9144000" cy="4433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0218" name="Shape 65538"/>
          <p:cNvSpPr>
            <a:spLocks noChangeShapeType="1" noGrp="1"/>
          </p:cNvSpPr>
          <p:nvPr>
            <p:ph type="title" idx="0"/>
          </p:nvPr>
        </p:nvSpPr>
        <p:spPr bwMode="auto">
          <a:xfrm>
            <a:off x="520699" y="-47624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Data Entry</a:t>
            </a:r>
            <a:endParaRPr/>
          </a:p>
        </p:txBody>
      </p:sp>
      <p:sp>
        <p:nvSpPr>
          <p:cNvPr id="76789767" name="Shape 65539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981199"/>
            <a:ext cx="8229600" cy="4114800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3200" b="0" i="0">
                <a:solidFill>
                  <a:schemeClr val="dk1"/>
                </a:solidFill>
                <a:latin typeface="+mn-lt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800" b="0" i="0">
                <a:solidFill>
                  <a:schemeClr val="dk1"/>
                </a:solidFill>
                <a:latin typeface="+mn-lt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400" b="0" i="0">
                <a:solidFill>
                  <a:schemeClr val="dk1"/>
                </a:solidFill>
                <a:latin typeface="+mn-lt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None/>
              <a:defRPr/>
            </a:pPr>
            <a:endParaRPr/>
          </a:p>
        </p:txBody>
      </p:sp>
      <p:pic>
        <p:nvPicPr>
          <p:cNvPr id="17358751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212055"/>
            <a:ext cx="9144000" cy="4433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79452" name="Shape 65538"/>
          <p:cNvSpPr>
            <a:spLocks noChangeShapeType="1" noGrp="1"/>
          </p:cNvSpPr>
          <p:nvPr>
            <p:ph type="title" idx="0"/>
          </p:nvPr>
        </p:nvSpPr>
        <p:spPr bwMode="auto">
          <a:xfrm>
            <a:off x="520699" y="-47624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Report</a:t>
            </a:r>
            <a:endParaRPr/>
          </a:p>
        </p:txBody>
      </p:sp>
      <p:sp>
        <p:nvSpPr>
          <p:cNvPr id="1693813116" name="Shape 65539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981199"/>
            <a:ext cx="8229600" cy="4114800"/>
          </a:xfrm>
          <a:prstGeom prst="rect">
            <a:avLst/>
          </a:prstGeom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3200" b="0" i="0">
                <a:solidFill>
                  <a:schemeClr val="dk1"/>
                </a:solidFill>
                <a:latin typeface="+mn-lt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800" b="0" i="0">
                <a:solidFill>
                  <a:schemeClr val="dk1"/>
                </a:solidFill>
                <a:latin typeface="+mn-lt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400" b="0" i="0">
                <a:solidFill>
                  <a:schemeClr val="dk1"/>
                </a:solidFill>
                <a:latin typeface="+mn-lt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FF"/>
              </a:buClr>
              <a:buSzPct val="65000"/>
              <a:buChar char="n"/>
              <a:defRPr sz="2000" b="0" i="0">
                <a:solidFill>
                  <a:schemeClr val="dk1"/>
                </a:solidFill>
                <a:latin typeface="+mn-lt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00CCFF"/>
              </a:buClr>
              <a:buSzPct val="6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None/>
              <a:defRPr/>
            </a:pPr>
            <a:endParaRPr/>
          </a:p>
        </p:txBody>
      </p:sp>
      <p:pic>
        <p:nvPicPr>
          <p:cNvPr id="12549199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212055"/>
            <a:ext cx="9144000" cy="4433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31951" name="Shape 65538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-142875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Tools</a:t>
            </a:r>
            <a:endParaRPr/>
          </a:p>
        </p:txBody>
      </p:sp>
      <p:graphicFrame>
        <p:nvGraphicFramePr>
          <p:cNvPr id="1858170526" name=""/>
          <p:cNvGraphicFramePr>
            <a:graphicFrameLocks xmlns:a="http://schemas.openxmlformats.org/drawingml/2006/main"/>
          </p:cNvGraphicFramePr>
          <p:nvPr/>
        </p:nvGraphicFramePr>
        <p:xfrm>
          <a:off x="457199" y="968374"/>
          <a:ext cx="6095999" cy="2153741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348143"/>
                <a:gridCol w="6022781"/>
              </a:tblGrid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Category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Tools / Technologies Used</a:t>
                      </a:r>
                      <a:endParaRPr sz="24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IDE &amp; Editors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Visual Studio Code, MySQL Workbench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Frontend Framework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Next.js 14, React 18, Tailwind CSS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Frontend Libraries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Chart.js, Lucide React, jsPDF, jspdf-autotable, react-hot-toast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Backend Framework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Python 3.10, FastAPI, Uvicorn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Backend Libraries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SQLAlchemy 2.0, Pydantic, python-jose, passlib, bcrypt, SQLAdmin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Database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MySQL 8 (InnoDB), PyMySQL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62700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Machine Learning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TensorFlow / Keras, scikit-learn, pandas, numpy, matplotlib, seaborn, joblib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Version Control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Git, GitHub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API Testing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Postman, FastAPI Swagger UI (</a:t>
                      </a:r>
                      <a:r>
                        <a:rPr sz="1600" b="0" i="0" u="none">
                          <a:solidFill>
                            <a:srgbClr val="00206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/docs</a:t>
                      </a: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)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Diagrams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draw.io / diagrams.net, Lucidchart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Documentation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LibreOffice Writer, OnlyOffice Impress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427108"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1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Operating System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400" b="0" i="0" u="none">
                          <a:solidFill>
                            <a:srgbClr val="002060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Ubuntu Linux 24.04</a:t>
                      </a:r>
                      <a:endParaRPr sz="24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446671" name="Shape 67586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-222249"/>
            <a:ext cx="8229600" cy="1371600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>
                <a:solidFill>
                  <a:schemeClr val="dk2"/>
                </a:solidFill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Test Cases</a:t>
            </a:r>
            <a:endParaRPr/>
          </a:p>
        </p:txBody>
      </p:sp>
      <p:graphicFrame>
        <p:nvGraphicFramePr>
          <p:cNvPr id="265139292" name=""/>
          <p:cNvGraphicFramePr>
            <a:graphicFrameLocks xmlns:a="http://schemas.openxmlformats.org/drawingml/2006/main"/>
          </p:cNvGraphicFramePr>
          <p:nvPr/>
        </p:nvGraphicFramePr>
        <p:xfrm>
          <a:off x="259537" y="927099"/>
          <a:ext cx="8624924" cy="566927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724984"/>
                <a:gridCol w="1724984"/>
                <a:gridCol w="1724984"/>
                <a:gridCol w="1724985"/>
                <a:gridCol w="1724985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ID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Test Name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Module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Expected Result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Status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TC-AUTH-001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Valid User Login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Authentication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Token issued, dashboard loaded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TC-AUTH-002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Invalid Credentials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Authentication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401 + error toast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TC-INPUT-001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Valid Patient Data Entry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Patient Module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Patient saved with ID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TC-INPUT-002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Missing Required Fields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Patient Module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Inline validation error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TC-INPUT-003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Invalid Range (Age 150)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Patient Module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"Age must be 1–120"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TC-MODEL-001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Train ANN Model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ML Training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Test accuracy ≥ 75%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TC-PRED-001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Run Heart Risk Prediction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Prediction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Risk class + probability returned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TC-PRED-002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Probability Sum = 100%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Prediction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Low+Medium+High = 100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TC-REPORT-001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Export PDF Report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Reporting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PDF downloaded &lt; 5 sec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TC-DB-001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Foreign Key Constraint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Database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Invalid FK insert rejected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TC-SEC-002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SQL Injection Prevention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Security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Input treated as literal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TC-USAB-001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Real-time Form Validation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Usability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Inline error on field blur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✅ Pas</a:t>
                      </a:r>
                      <a:endParaRPr sz="12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6539155" name="Shape 12800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558799" y="676274"/>
            <a:ext cx="7772400" cy="18288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b="1"/>
              <a:t>Test Plan</a:t>
            </a:r>
            <a:endParaRPr b="1"/>
          </a:p>
        </p:txBody>
      </p:sp>
      <p:sp>
        <p:nvSpPr>
          <p:cNvPr id="567358713" name=""/>
          <p:cNvSpPr txBox="1"/>
          <p:nvPr/>
        </p:nvSpPr>
        <p:spPr bwMode="auto">
          <a:xfrm rot="0" flipH="0" flipV="0">
            <a:off x="1577772" y="2342514"/>
            <a:ext cx="6631947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/>
              <a:t>A structured test strategy covering all critical functionality of the application, executed across 5 test categories.</a:t>
            </a:r>
            <a:endParaRPr sz="3600"/>
          </a:p>
          <a:p>
            <a:pPr algn="l"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014287" name="Shape 12800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558799" y="-69849"/>
            <a:ext cx="7772400" cy="18288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b="1"/>
              <a:t>Test Plan</a:t>
            </a:r>
            <a:endParaRPr b="1"/>
          </a:p>
        </p:txBody>
      </p:sp>
      <p:sp>
        <p:nvSpPr>
          <p:cNvPr id="1272776946" name=""/>
          <p:cNvSpPr txBox="1"/>
          <p:nvPr/>
        </p:nvSpPr>
        <p:spPr bwMode="auto">
          <a:xfrm rot="0" flipH="0" flipV="0">
            <a:off x="625272" y="1529534"/>
            <a:ext cx="663806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/>
              <a:t>Test Strategy</a:t>
            </a:r>
            <a:endParaRPr sz="3600"/>
          </a:p>
          <a:p>
            <a:pPr algn="l">
              <a:defRPr/>
            </a:pPr>
            <a:endParaRPr sz="3600"/>
          </a:p>
        </p:txBody>
      </p:sp>
      <p:graphicFrame>
        <p:nvGraphicFramePr>
          <p:cNvPr id="1215252085" name=""/>
          <p:cNvGraphicFramePr>
            <a:graphicFrameLocks xmlns:a="http://schemas.openxmlformats.org/drawingml/2006/main"/>
          </p:cNvGraphicFramePr>
          <p:nvPr/>
        </p:nvGraphicFramePr>
        <p:xfrm>
          <a:off x="1317624" y="2276474"/>
          <a:ext cx="6095999" cy="21945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620936"/>
                <a:gridCol w="4206938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Category</a:t>
                      </a:r>
                      <a:endParaRPr sz="26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What was verified</a:t>
                      </a:r>
                      <a:endParaRPr sz="26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Unit Testing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Individual API endpoints, validation rules, ML prediction function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Integration Testing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Frontend ↔ FastAPI ↔ MySQL end-to-end flow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UI / Functional Testing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Manual walkthrough of every page (login, predict, history, admin)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Performance Testing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Prediction response time &lt; 3 sec; PDF export &lt; 5 sec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Security Testing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JWT auth, password hashing, SQL injection prevention, role-based access</a:t>
                      </a:r>
                      <a:endParaRPr sz="2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2422510" name="Shape 12800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558799" y="-69849"/>
            <a:ext cx="7772400" cy="18288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b="1"/>
              <a:t>Test Plan</a:t>
            </a:r>
            <a:endParaRPr b="1"/>
          </a:p>
        </p:txBody>
      </p:sp>
      <p:sp>
        <p:nvSpPr>
          <p:cNvPr id="1926863577" name=""/>
          <p:cNvSpPr txBox="1"/>
          <p:nvPr/>
        </p:nvSpPr>
        <p:spPr bwMode="auto">
          <a:xfrm rot="0" flipH="0" flipV="0">
            <a:off x="625272" y="1275534"/>
            <a:ext cx="663842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3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Test Environment</a:t>
            </a:r>
            <a:endParaRPr sz="3600"/>
          </a:p>
          <a:p>
            <a:pPr algn="l">
              <a:defRPr/>
            </a:pPr>
            <a:endParaRPr sz="3600"/>
          </a:p>
        </p:txBody>
      </p:sp>
      <p:sp>
        <p:nvSpPr>
          <p:cNvPr id="1401141380" name=""/>
          <p:cNvSpPr txBox="1"/>
          <p:nvPr/>
        </p:nvSpPr>
        <p:spPr bwMode="auto">
          <a:xfrm rot="0" flipH="0" flipV="0">
            <a:off x="1057407" y="1870074"/>
            <a:ext cx="6775183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Arial"/>
              <a:buChar char="•"/>
              <a:defRPr/>
            </a:pPr>
            <a:r>
              <a:rPr sz="2200"/>
              <a:t>OS: Ubuntu Linux 24.04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Browser: Chrome (latest)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Backend: FastAPI on localhost:8000 with MySQL 8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Frontend: Next.js on localhost:3000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Tools: Postman, Swagger UI (/docs), Chrome DevTools, manual testing</a:t>
            </a:r>
            <a:endParaRPr sz="2200"/>
          </a:p>
        </p:txBody>
      </p:sp>
      <p:sp>
        <p:nvSpPr>
          <p:cNvPr id="307412858" name=""/>
          <p:cNvSpPr txBox="1"/>
          <p:nvPr/>
        </p:nvSpPr>
        <p:spPr bwMode="auto">
          <a:xfrm rot="0" flipH="0" flipV="0">
            <a:off x="752272" y="4451709"/>
            <a:ext cx="664058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/>
              <a:t>Result</a:t>
            </a:r>
            <a:endParaRPr sz="3600"/>
          </a:p>
          <a:p>
            <a:pPr algn="l">
              <a:defRPr/>
            </a:pPr>
            <a:endParaRPr sz="3600"/>
          </a:p>
        </p:txBody>
      </p:sp>
      <p:sp>
        <p:nvSpPr>
          <p:cNvPr id="887232016" name=""/>
          <p:cNvSpPr txBox="1"/>
          <p:nvPr/>
        </p:nvSpPr>
        <p:spPr bwMode="auto">
          <a:xfrm rot="0" flipH="0" flipV="0">
            <a:off x="1069410" y="5140779"/>
            <a:ext cx="656880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200"/>
              <a:t>20 / 20 test cases passed · 100% pass rate · 0 critical defects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460264" name="Shape 12800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558799" y="-69849"/>
            <a:ext cx="7772400" cy="18288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b="1"/>
              <a:t>Test Plan</a:t>
            </a:r>
            <a:endParaRPr b="1"/>
          </a:p>
        </p:txBody>
      </p:sp>
      <p:sp>
        <p:nvSpPr>
          <p:cNvPr id="606120689" name=""/>
          <p:cNvSpPr txBox="1"/>
          <p:nvPr/>
        </p:nvSpPr>
        <p:spPr bwMode="auto">
          <a:xfrm rot="0" flipH="0" flipV="0">
            <a:off x="625272" y="1275534"/>
            <a:ext cx="663842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3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Test Environment</a:t>
            </a:r>
            <a:endParaRPr sz="3600"/>
          </a:p>
          <a:p>
            <a:pPr algn="l">
              <a:defRPr/>
            </a:pPr>
            <a:endParaRPr sz="3600"/>
          </a:p>
        </p:txBody>
      </p:sp>
      <p:sp>
        <p:nvSpPr>
          <p:cNvPr id="1717968133" name=""/>
          <p:cNvSpPr txBox="1"/>
          <p:nvPr/>
        </p:nvSpPr>
        <p:spPr bwMode="auto">
          <a:xfrm rot="0" flipH="0" flipV="0">
            <a:off x="1057407" y="1870074"/>
            <a:ext cx="6775183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Arial"/>
              <a:buChar char="•"/>
              <a:defRPr/>
            </a:pPr>
            <a:r>
              <a:rPr sz="2200"/>
              <a:t>OS: Ubuntu Linux 24.04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Browser: Chrome (latest)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Backend: FastAPI on localhost:8000 with MySQL 8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Frontend: Next.js on localhost:3000</a:t>
            </a:r>
            <a:endParaRPr sz="2200"/>
          </a:p>
          <a:p>
            <a:pPr marL="283879" indent="-283879" algn="l">
              <a:buFont typeface="Arial"/>
              <a:buChar char="•"/>
              <a:defRPr/>
            </a:pPr>
            <a:r>
              <a:rPr sz="2200"/>
              <a:t>Tools: Postman, Swagger UI (/docs), Chrome DevTools, manual testing</a:t>
            </a:r>
            <a:endParaRPr sz="2200"/>
          </a:p>
        </p:txBody>
      </p:sp>
      <p:sp>
        <p:nvSpPr>
          <p:cNvPr id="563307777" name=""/>
          <p:cNvSpPr txBox="1"/>
          <p:nvPr/>
        </p:nvSpPr>
        <p:spPr bwMode="auto">
          <a:xfrm rot="0" flipH="0" flipV="0">
            <a:off x="752272" y="4451709"/>
            <a:ext cx="664058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/>
              <a:t>Result</a:t>
            </a:r>
            <a:endParaRPr sz="3600"/>
          </a:p>
          <a:p>
            <a:pPr algn="l">
              <a:defRPr/>
            </a:pPr>
            <a:endParaRPr sz="3600"/>
          </a:p>
        </p:txBody>
      </p:sp>
      <p:sp>
        <p:nvSpPr>
          <p:cNvPr id="607753197" name=""/>
          <p:cNvSpPr txBox="1"/>
          <p:nvPr/>
        </p:nvSpPr>
        <p:spPr bwMode="auto">
          <a:xfrm rot="0" flipH="0" flipV="0">
            <a:off x="1069410" y="5140779"/>
            <a:ext cx="656880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200"/>
              <a:t>20 / 20 test cases passed · 100% pass rate · 0 critical defects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681769" name="Shape 14643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85800" y="1676399"/>
            <a:ext cx="7772400" cy="18288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>
              <a:defRPr/>
            </a:pPr>
            <a:endParaRPr/>
          </a:p>
        </p:txBody>
      </p:sp>
      <p:graphicFrame>
        <p:nvGraphicFramePr>
          <p:cNvPr id="1717315824" name=""/>
          <p:cNvGraphicFramePr>
            <a:graphicFrameLocks xmlns:a="http://schemas.openxmlformats.org/drawingml/2006/main"/>
          </p:cNvGraphicFramePr>
          <p:nvPr/>
        </p:nvGraphicFramePr>
        <p:xfrm>
          <a:off x="642364" y="137159"/>
          <a:ext cx="7746999" cy="65930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665454"/>
                <a:gridCol w="5452300"/>
                <a:gridCol w="730478"/>
                <a:gridCol w="898767"/>
              </a:tblGrid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#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Feature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Tested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 i="0" u="none">
                          <a:solidFill>
                            <a:schemeClr val="tx1"/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Functional</a:t>
                      </a:r>
                      <a:endParaRPr sz="20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User Registration &amp; Login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2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Real-time Username / Email Validation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3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Password Strength Rules (live checklist)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4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Add / Edit / Delete Patient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5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Search Patient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6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Run Heart Disease Risk Prediction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7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ML Model Comparison (ANN / LR / RF)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8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Prediction Result Page (charts + recommendations)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9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Prediction History with Filters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10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Export PDF Report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11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Export CSV (History)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12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Admin Panel Login (</a:t>
                      </a:r>
                      <a:r>
                        <a:rPr sz="12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/>
                          <a:ea typeface="Courier New"/>
                          <a:cs typeface="Courier New"/>
                        </a:rPr>
                        <a:t>/admin</a:t>
                      </a: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751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13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Admin — Manage Users (Promote / Disable)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14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Admin — View All Patients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15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Admin — Patient Report (HTML + Print)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16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Toast Notifications (success / error)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17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JWT Authentication &amp; Session Management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 i="0" u="none">
                          <a:solidFill>
                            <a:schemeClr val="bg1">
                              <a:lumMod val="50000"/>
                            </a:schemeClr>
                          </a:solidFill>
                          <a:latin typeface="Liberation Sans"/>
                          <a:ea typeface="Liberation Sans"/>
                          <a:cs typeface="Liberation Sans"/>
                        </a:rPr>
                        <a:t>✓</a:t>
                      </a:r>
                      <a:endParaRPr sz="20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221477" name="Shape 74756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533399" y="190499"/>
            <a:ext cx="7772400" cy="8382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4000"/>
              <a:t>Conclusion</a:t>
            </a:r>
            <a:endParaRPr/>
          </a:p>
        </p:txBody>
      </p:sp>
      <p:sp>
        <p:nvSpPr>
          <p:cNvPr id="1853703579" name="Shape 74757"/>
          <p:cNvSpPr>
            <a:spLocks noChangeShapeType="1" noGrp="1"/>
          </p:cNvSpPr>
          <p:nvPr>
            <p:ph type="subTitle" idx="1"/>
          </p:nvPr>
        </p:nvSpPr>
        <p:spPr bwMode="auto">
          <a:xfrm flipH="0" flipV="0">
            <a:off x="763624" y="1247774"/>
            <a:ext cx="7667624" cy="1752598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CardioPredict AI successfully delivers a full-stack heart disease risk prediction system using deep learning. The ANN model achieves 77.5% accuracy and 0.917 ROC-AUC on UCI data. All 20 test cases passed. The system is functional end-to-end  authentication, prediction, reporting, and admin panel.</a:t>
            </a:r>
            <a:endParaRPr lang="en-US" sz="2400" b="0" i="0" u="none" strike="noStrike" cap="none" spc="0">
              <a:solidFill>
                <a:schemeClr val="dk1"/>
              </a:solidFill>
              <a:latin typeface="Tahoma"/>
              <a:cs typeface="Tahoma"/>
            </a:endParaRPr>
          </a:p>
          <a:p>
            <a:pPr algn="just">
              <a:defRPr/>
            </a:pPr>
            <a:endParaRPr lang="en-US" sz="2400" b="0" i="0" u="none" strike="noStrike" cap="none" spc="0">
              <a:solidFill>
                <a:schemeClr val="dk1"/>
              </a:solidFill>
              <a:latin typeface="Tahoma"/>
              <a:cs typeface="Tahoma"/>
            </a:endParaRPr>
          </a:p>
          <a:p>
            <a:pPr algn="just"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Future work includes training on larger datasets, EHR integration, and adding explainable AI.</a:t>
            </a:r>
            <a:endParaRPr lang="en-US" sz="2400" b="0" i="0" u="none" strike="noStrike" cap="none" spc="0">
              <a:solidFill>
                <a:schemeClr val="dk1"/>
              </a:solidFill>
              <a:latin typeface="Tahoma"/>
              <a:cs typeface="Tahoma"/>
            </a:endParaRPr>
          </a:p>
          <a:p>
            <a:pPr algn="just">
              <a:defRPr/>
            </a:pPr>
            <a:endParaRPr lang="en-US" sz="2400" b="0" i="0" u="none" strike="noStrike" cap="none" spc="0">
              <a:solidFill>
                <a:schemeClr val="dk1"/>
              </a:solidFill>
              <a:latin typeface="Tahoma"/>
              <a:cs typeface="Tahoma"/>
            </a:endParaRPr>
          </a:p>
          <a:p>
            <a:pPr marL="0" lvl="0" indent="0" algn="just">
              <a:spcBef>
                <a:spcPts val="0"/>
              </a:spcBef>
              <a:buNone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Tahoma"/>
                <a:ea typeface="Tahoma"/>
                <a:cs typeface="Tahoma"/>
              </a:rPr>
              <a:t>Sincere thanks to my supervisor Madam Laraib Sana for her guidance</a:t>
            </a:r>
            <a:endParaRPr sz="2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115009" name="Shape 75780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85800" y="1981200"/>
            <a:ext cx="7772400" cy="2362199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4000"/>
              <a:t>Thanks!</a:t>
            </a:r>
            <a:br>
              <a:rPr sz="4000"/>
            </a:br>
            <a:br>
              <a:rPr sz="4000"/>
            </a:br>
            <a:r>
              <a:rPr sz="4000"/>
              <a:t>Any Questions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49886" name="Shape 76804"/>
          <p:cNvSpPr>
            <a:spLocks noChangeShapeType="1" noGrp="1"/>
          </p:cNvSpPr>
          <p:nvPr>
            <p:ph type="ctrTitle" idx="0"/>
          </p:nvPr>
        </p:nvSpPr>
        <p:spPr bwMode="auto">
          <a:xfrm>
            <a:off x="685800" y="1676400"/>
            <a:ext cx="7772400" cy="1828800"/>
          </a:xfrm>
          <a:prstGeom prst="rect">
            <a:avLst/>
          </a:prstGeom>
        </p:spPr>
        <p:txBody>
          <a:bodyPr lIns="91440" tIns="45720" rIns="91440" bIns="4572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The 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xtured">
  <a:themeElements>
    <a:clrScheme name="Default">
      <a:dk1>
        <a:srgbClr val="FFFFFF"/>
      </a:dk1>
      <a:lt1>
        <a:srgbClr val="2B5481"/>
      </a:lt1>
      <a:dk2>
        <a:srgbClr val="E5FFFF"/>
      </a:dk2>
      <a:lt2>
        <a:srgbClr val="003366"/>
      </a:lt2>
      <a:accent1>
        <a:srgbClr val="009999"/>
      </a:accent1>
      <a:accent2>
        <a:srgbClr val="336699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CCFF"/>
      </a:hlink>
      <a:folHlink>
        <a:srgbClr val="FFCC00"/>
      </a:folHlink>
    </a:clrScheme>
    <a:fontScheme name="default">
      <a:majorFont>
        <a:latin typeface="Arial"/>
        <a:ea typeface="Arial"/>
        <a:cs typeface="Arial"/>
      </a:majorFont>
      <a:minorFont>
        <a:latin typeface="Tahoma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Textured 1">
        <a:dk1>
          <a:srgbClr val="FFFFFF"/>
        </a:dk1>
        <a:lt1>
          <a:srgbClr val="800000"/>
        </a:lt1>
        <a:dk2>
          <a:srgbClr val="FFFFCC"/>
        </a:dk2>
        <a:lt2>
          <a:srgbClr val="660000"/>
        </a:lt2>
        <a:accent1>
          <a:srgbClr val="BE7960"/>
        </a:accent1>
        <a:accent2>
          <a:srgbClr val="CC660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CC66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2">
        <a:dk1>
          <a:srgbClr val="FFFFFF"/>
        </a:dk1>
        <a:lt1>
          <a:srgbClr val="4D6A2A"/>
        </a:lt1>
        <a:dk2>
          <a:srgbClr val="CCFF99"/>
        </a:dk2>
        <a:lt2>
          <a:srgbClr val="003300"/>
        </a:lt2>
        <a:accent1>
          <a:srgbClr val="33CC33"/>
        </a:accent1>
        <a:accent2>
          <a:srgbClr val="46562A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99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3">
        <a:dk1>
          <a:srgbClr val="FFFFFF"/>
        </a:dk1>
        <a:lt1>
          <a:srgbClr val="666699"/>
        </a:lt1>
        <a:dk2>
          <a:srgbClr val="FFFFCC"/>
        </a:dk2>
        <a:lt2>
          <a:srgbClr val="4E4E74"/>
        </a:lt2>
        <a:accent1>
          <a:srgbClr val="5E5884"/>
        </a:accent1>
        <a:accent2>
          <a:srgbClr val="8AB29D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FF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4">
        <a:dk1>
          <a:srgbClr val="FFFFFF"/>
        </a:dk1>
        <a:lt1>
          <a:srgbClr val="006666"/>
        </a:lt1>
        <a:dk2>
          <a:srgbClr val="FFFFCC"/>
        </a:dk2>
        <a:lt2>
          <a:srgbClr val="004E4C"/>
        </a:lt2>
        <a:accent1>
          <a:srgbClr val="FFCC00"/>
        </a:accent1>
        <a:accent2>
          <a:srgbClr val="00B0A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BA7C3E"/>
        </a:hlink>
        <a:folHlink>
          <a:srgbClr val="724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5">
        <a:dk1>
          <a:srgbClr val="FFFFFF"/>
        </a:dk1>
        <a:lt1>
          <a:srgbClr val="2B5481"/>
        </a:lt1>
        <a:dk2>
          <a:srgbClr val="E5FFFF"/>
        </a:dk2>
        <a:lt2>
          <a:srgbClr val="003366"/>
        </a:lt2>
        <a:accent1>
          <a:srgbClr val="009999"/>
        </a:accent1>
        <a:accent2>
          <a:srgbClr val="336699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6">
        <a:dk1>
          <a:srgbClr val="FFFFFF"/>
        </a:dk1>
        <a:lt1>
          <a:srgbClr val="4D4D4D"/>
        </a:lt1>
        <a:dk2>
          <a:srgbClr val="FFFFFF"/>
        </a:dk2>
        <a:lt2>
          <a:srgbClr val="080808"/>
        </a:lt2>
        <a:accent1>
          <a:srgbClr val="666699"/>
        </a:accent1>
        <a:accent2>
          <a:srgbClr val="3366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CCFF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xtured">
  <a:themeElements>
    <a:clrScheme name="Default">
      <a:dk1>
        <a:srgbClr val="FFFFFF"/>
      </a:dk1>
      <a:lt1>
        <a:srgbClr val="2B5481"/>
      </a:lt1>
      <a:dk2>
        <a:srgbClr val="E5FFFF"/>
      </a:dk2>
      <a:lt2>
        <a:srgbClr val="003366"/>
      </a:lt2>
      <a:accent1>
        <a:srgbClr val="009999"/>
      </a:accent1>
      <a:accent2>
        <a:srgbClr val="336699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CCFF"/>
      </a:hlink>
      <a:folHlink>
        <a:srgbClr val="FFCC00"/>
      </a:folHlink>
    </a:clrScheme>
    <a:fontScheme name="">
      <a:majorFont>
        <a:latin typeface="Arial"/>
        <a:ea typeface="Arial"/>
        <a:cs typeface="Arial"/>
      </a:majorFont>
      <a:minorFont>
        <a:latin typeface="Tahoma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Textured 1">
        <a:dk1>
          <a:srgbClr val="FFFFFF"/>
        </a:dk1>
        <a:lt1>
          <a:srgbClr val="800000"/>
        </a:lt1>
        <a:dk2>
          <a:srgbClr val="FFFFCC"/>
        </a:dk2>
        <a:lt2>
          <a:srgbClr val="660000"/>
        </a:lt2>
        <a:accent1>
          <a:srgbClr val="BE7960"/>
        </a:accent1>
        <a:accent2>
          <a:srgbClr val="CC660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CC66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2">
        <a:dk1>
          <a:srgbClr val="FFFFFF"/>
        </a:dk1>
        <a:lt1>
          <a:srgbClr val="4D6A2A"/>
        </a:lt1>
        <a:dk2>
          <a:srgbClr val="CCFF99"/>
        </a:dk2>
        <a:lt2>
          <a:srgbClr val="003300"/>
        </a:lt2>
        <a:accent1>
          <a:srgbClr val="33CC33"/>
        </a:accent1>
        <a:accent2>
          <a:srgbClr val="46562A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99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3">
        <a:dk1>
          <a:srgbClr val="FFFFFF"/>
        </a:dk1>
        <a:lt1>
          <a:srgbClr val="666699"/>
        </a:lt1>
        <a:dk2>
          <a:srgbClr val="FFFFCC"/>
        </a:dk2>
        <a:lt2>
          <a:srgbClr val="4E4E74"/>
        </a:lt2>
        <a:accent1>
          <a:srgbClr val="5E5884"/>
        </a:accent1>
        <a:accent2>
          <a:srgbClr val="8AB29D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FF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4">
        <a:dk1>
          <a:srgbClr val="FFFFFF"/>
        </a:dk1>
        <a:lt1>
          <a:srgbClr val="006666"/>
        </a:lt1>
        <a:dk2>
          <a:srgbClr val="FFFFCC"/>
        </a:dk2>
        <a:lt2>
          <a:srgbClr val="004E4C"/>
        </a:lt2>
        <a:accent1>
          <a:srgbClr val="FFCC00"/>
        </a:accent1>
        <a:accent2>
          <a:srgbClr val="00B0A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BA7C3E"/>
        </a:hlink>
        <a:folHlink>
          <a:srgbClr val="724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5">
        <a:dk1>
          <a:srgbClr val="FFFFFF"/>
        </a:dk1>
        <a:lt1>
          <a:srgbClr val="2B5481"/>
        </a:lt1>
        <a:dk2>
          <a:srgbClr val="E5FFFF"/>
        </a:dk2>
        <a:lt2>
          <a:srgbClr val="003366"/>
        </a:lt2>
        <a:accent1>
          <a:srgbClr val="009999"/>
        </a:accent1>
        <a:accent2>
          <a:srgbClr val="336699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6">
        <a:dk1>
          <a:srgbClr val="FFFFFF"/>
        </a:dk1>
        <a:lt1>
          <a:srgbClr val="4D4D4D"/>
        </a:lt1>
        <a:dk2>
          <a:srgbClr val="FFFFFF"/>
        </a:dk2>
        <a:lt2>
          <a:srgbClr val="080808"/>
        </a:lt2>
        <a:accent1>
          <a:srgbClr val="666699"/>
        </a:accent1>
        <a:accent2>
          <a:srgbClr val="3366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CCFF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0</TotalTime>
  <Words>0</Words>
  <Application>ONLYOFFICE/9.3.1.8</Application>
  <PresentationFormat>On-screen Show (4:3)</PresentationFormat>
  <Paragraphs>0</Paragraphs>
  <Slides>39</Slides>
  <Notes>39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 us Play Chess Online</dc:title>
  <dc:creator>MUHAMMAD HARIS SIDDIQUI</dc:creator>
  <cp:lastModifiedBy/>
  <cp:revision>54</cp:revision>
  <dcterms:created xsi:type="dcterms:W3CDTF">2007-02-24T01:41:00Z</dcterms:created>
  <dcterms:modified xsi:type="dcterms:W3CDTF">2026-05-10T17:54:18Z</dcterms:modified>
</cp:coreProperties>
</file>